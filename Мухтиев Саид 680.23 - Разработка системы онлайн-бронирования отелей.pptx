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4" r:id="rId2"/>
    <p:sldId id="267" r:id="rId3"/>
    <p:sldId id="268" r:id="rId4"/>
    <p:sldId id="269" r:id="rId5"/>
    <p:sldId id="257" r:id="rId6"/>
    <p:sldId id="258" r:id="rId7"/>
    <p:sldId id="259" r:id="rId8"/>
    <p:sldId id="260" r:id="rId9"/>
    <p:sldId id="261" r:id="rId10"/>
    <p:sldId id="262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A020"/>
    <a:srgbClr val="353F51"/>
    <a:srgbClr val="F7F9FC"/>
    <a:srgbClr val="F2C55C"/>
    <a:srgbClr val="3A517A"/>
    <a:srgbClr val="273753"/>
    <a:srgbClr val="DB9D13"/>
    <a:srgbClr val="E6A514"/>
    <a:srgbClr val="C58615"/>
    <a:srgbClr val="4D5C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40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685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3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AD5A203-7AE0-4912-AFD1-6DBE1D3EF438}"/>
              </a:ext>
            </a:extLst>
          </p:cNvPr>
          <p:cNvSpPr/>
          <p:nvPr/>
        </p:nvSpPr>
        <p:spPr>
          <a:xfrm>
            <a:off x="0" y="0"/>
            <a:ext cx="9144000" cy="5134968"/>
          </a:xfrm>
          <a:prstGeom prst="rect">
            <a:avLst/>
          </a:prstGeom>
          <a:solidFill>
            <a:srgbClr val="353F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1371600"/>
            <a:ext cx="3840480" cy="3840480"/>
          </a:xfrm>
          <a:prstGeom prst="ellipse">
            <a:avLst/>
          </a:prstGeom>
          <a:solidFill>
            <a:srgbClr val="213354">
              <a:alpha val="70000"/>
            </a:srgbClr>
          </a:solidFill>
          <a:ln w="19050">
            <a:solidFill>
              <a:srgbClr val="E8A0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3200400"/>
            <a:ext cx="2286000" cy="2286000"/>
          </a:xfrm>
          <a:prstGeom prst="ellipse">
            <a:avLst/>
          </a:prstGeom>
          <a:solidFill>
            <a:srgbClr val="E8A020">
              <a:alpha val="15000"/>
            </a:srgbClr>
          </a:solidFill>
          <a:ln w="12700">
            <a:solidFill>
              <a:srgbClr val="F2C5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029968"/>
            <a:ext cx="50292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371211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РАЗРАБОТКА СИСТЕМЫ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5007" y="950976"/>
            <a:ext cx="566840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ОНЛАЙН-БРОНИРОВАНИЯ</a:t>
            </a:r>
            <a:endParaRPr lang="ru-RU" sz="2800" b="1" kern="0" spc="50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 algn="l">
              <a:buNone/>
            </a:pPr>
            <a:r>
              <a:rPr lang="en-US" sz="2800" b="1" kern="0" spc="5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ОТЕЛЕЙ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44647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Курсовая работа по дисциплине «Веб-системы и технологии»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408565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C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ru-RU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Саид Мухтиев </a:t>
            </a:r>
            <a:r>
              <a:rPr lang="en-US" sz="13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 </a:t>
            </a:r>
            <a:r>
              <a:rPr lang="en-US" sz="1300" b="1" dirty="0" err="1">
                <a:solidFill>
                  <a:srgbClr val="F2C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</a:t>
            </a:r>
            <a:r>
              <a:rPr lang="en-US" sz="1300" b="1" dirty="0">
                <a:solidFill>
                  <a:srgbClr val="F2C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№</a:t>
            </a:r>
            <a:r>
              <a:rPr lang="ru-RU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680.23</a:t>
            </a:r>
            <a:r>
              <a:rPr lang="en-US" sz="13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2C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816352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C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Преподаватели: </a:t>
            </a:r>
            <a:r>
              <a:rPr lang="ru-RU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Халилов </a:t>
            </a:r>
            <a:r>
              <a:rPr lang="ru-RU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Матлаб</a:t>
            </a:r>
            <a:r>
              <a:rPr lang="ru-RU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Алиев Джамиль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9140" y="3479663"/>
            <a:ext cx="1828800" cy="1133856"/>
          </a:xfrm>
          <a:prstGeom prst="rect">
            <a:avLst/>
          </a:prstGeom>
          <a:solidFill>
            <a:srgbClr val="243A5A"/>
          </a:solidFill>
          <a:ln w="12700">
            <a:solidFill>
              <a:srgbClr val="E8A02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9140" y="3479663"/>
            <a:ext cx="1828800" cy="411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9140" y="3625967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0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71118" y="4083167"/>
            <a:ext cx="1164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</a:t>
            </a:r>
            <a:r>
              <a:rPr lang="en-US" sz="1000" dirty="0" err="1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траницы</a:t>
            </a:r>
            <a:r>
              <a:rPr lang="ru-RU" sz="10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имеет данный сайт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06801" y="3495548"/>
            <a:ext cx="1828800" cy="1133856"/>
          </a:xfrm>
          <a:prstGeom prst="rect">
            <a:avLst/>
          </a:prstGeom>
          <a:solidFill>
            <a:srgbClr val="243A5A"/>
          </a:solidFill>
          <a:ln w="12700">
            <a:solidFill>
              <a:srgbClr val="E8A02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06801" y="3495548"/>
            <a:ext cx="1828800" cy="411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6801" y="36418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0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40481" y="4099052"/>
            <a:ext cx="136144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000" dirty="0" err="1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телей</a:t>
            </a:r>
            <a:r>
              <a:rPr lang="ru-RU" sz="10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содержится в каталоге сайта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4462" y="3495548"/>
            <a:ext cx="1828800" cy="1133856"/>
          </a:xfrm>
          <a:prstGeom prst="rect">
            <a:avLst/>
          </a:prstGeom>
          <a:solidFill>
            <a:srgbClr val="243A5A"/>
          </a:solidFill>
          <a:ln w="12700">
            <a:solidFill>
              <a:srgbClr val="E8A02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74462" y="3495548"/>
            <a:ext cx="1828800" cy="411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74462" y="364185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0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710682" y="4099051"/>
            <a:ext cx="138684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+ JS </a:t>
            </a:r>
            <a:r>
              <a:rPr lang="en-US" sz="1000" dirty="0" err="1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</a:t>
            </a:r>
            <a:r>
              <a:rPr lang="ru-RU" sz="10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использовался в работе</a:t>
            </a:r>
            <a:endParaRPr lang="en-US" sz="100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A05B6C1-E2D3-4886-A4B8-847F3B96BE3D}"/>
              </a:ext>
            </a:extLst>
          </p:cNvPr>
          <p:cNvSpPr/>
          <p:nvPr/>
        </p:nvSpPr>
        <p:spPr>
          <a:xfrm>
            <a:off x="0" y="4896866"/>
            <a:ext cx="9144000" cy="260858"/>
          </a:xfrm>
          <a:prstGeom prst="rect">
            <a:avLst/>
          </a:prstGeom>
          <a:solidFill>
            <a:srgbClr val="3A51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61060564-5005-4322-8326-D8C712C2346F}"/>
              </a:ext>
            </a:extLst>
          </p:cNvPr>
          <p:cNvSpPr/>
          <p:nvPr/>
        </p:nvSpPr>
        <p:spPr>
          <a:xfrm>
            <a:off x="8128586" y="4880991"/>
            <a:ext cx="964614" cy="262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i="1" dirty="0">
                <a:solidFill>
                  <a:srgbClr val="F2C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2026-ой год</a:t>
            </a:r>
            <a:endParaRPr lang="en-US" sz="1200" b="1" dirty="0">
              <a:solidFill>
                <a:srgbClr val="F2C55C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500"/>
                            </p:stCondLst>
                            <p:childTnLst>
                              <p:par>
                                <p:cTn id="98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"/>
                            </p:stCondLst>
                            <p:childTnLst>
                              <p:par>
                                <p:cTn id="103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5500"/>
                            </p:stCondLst>
                            <p:childTnLst>
                              <p:par>
                                <p:cTn id="10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3" grpId="0" animBg="1"/>
      <p:bldP spid="14" grpId="0" animBg="1"/>
      <p:bldP spid="17" grpId="0" animBg="1"/>
      <p:bldP spid="18" grpId="0" animBg="1"/>
      <p:bldP spid="21" grpId="0" animBg="1"/>
      <p:bldP spid="22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6E9D086-8E7D-4F79-9EB1-15B6DC23CD74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1960" y="0"/>
            <a:ext cx="4200000" cy="603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</a:rPr>
              <a:t>HTML — СТРУКТУРА СТРАНИЦ</a:t>
            </a:r>
          </a:p>
        </p:txBody>
      </p:sp>
      <p:sp>
        <p:nvSpPr>
          <p:cNvPr id="4" name="Shape 2"/>
          <p:cNvSpPr/>
          <p:nvPr/>
        </p:nvSpPr>
        <p:spPr>
          <a:xfrm>
            <a:off x="289560" y="865888"/>
            <a:ext cx="91440" cy="133248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</a:ln>
        </p:spPr>
      </p:sp>
      <p:sp>
        <p:nvSpPr>
          <p:cNvPr id="5" name="Text 3"/>
          <p:cNvSpPr/>
          <p:nvPr/>
        </p:nvSpPr>
        <p:spPr>
          <a:xfrm>
            <a:off x="492760" y="774448"/>
            <a:ext cx="4300000" cy="1332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ru-RU" sz="2400" b="1" dirty="0">
                <a:solidFill>
                  <a:srgbClr val="1E2D3D"/>
                </a:solidFill>
                <a:latin typeface="Calibri" pitchFamily="34" charset="0"/>
              </a:rPr>
              <a:t>Что такое HTML?</a:t>
            </a:r>
          </a:p>
          <a:p>
            <a:pPr marL="0" indent="0">
              <a:buNone/>
            </a:pPr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HTML (HyperText Markup Language) — язык разметки, описывающий структуру веб-страницы. Браузер читает HTML и строит из него дерево элементов (DOM), которое видит пользователь.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4B009B-053C-44D2-85B5-E40B2C55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0384" y="921832"/>
            <a:ext cx="3794056" cy="3794056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EBE977EB-5EBE-485E-823D-58A8383C4550}"/>
              </a:ext>
            </a:extLst>
          </p:cNvPr>
          <p:cNvSpPr/>
          <p:nvPr/>
        </p:nvSpPr>
        <p:spPr>
          <a:xfrm>
            <a:off x="422433" y="2717800"/>
            <a:ext cx="4149567" cy="19930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При создании структуры сайта использовались семантические теги &lt;header&gt;, &lt;nav&gt;, &lt;section&gt;, &lt;</a:t>
            </a:r>
            <a:r>
              <a:rPr lang="ru-RU" sz="1500" dirty="0" err="1">
                <a:solidFill>
                  <a:srgbClr val="2C2C2C"/>
                </a:solidFill>
                <a:latin typeface="Calibri" pitchFamily="34" charset="0"/>
              </a:rPr>
              <a:t>footer</a:t>
            </a:r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&gt;, которые дают смысл каждому блоку страницы, а также формы &lt;input&gt;, &lt;select&gt;, type="date"/"</a:t>
            </a:r>
            <a:r>
              <a:rPr lang="ru-RU" sz="1500" dirty="0" err="1">
                <a:solidFill>
                  <a:srgbClr val="2C2C2C"/>
                </a:solidFill>
                <a:latin typeface="Calibri" pitchFamily="34" charset="0"/>
              </a:rPr>
              <a:t>email</a:t>
            </a:r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«, отвечающие за встроенную валидацию браузера. В проекте имеются 4 страницы с единой шапкой и навигацией (&lt;header&gt; / &lt;</a:t>
            </a:r>
            <a:r>
              <a:rPr lang="ru-RU" sz="1500" dirty="0" err="1">
                <a:solidFill>
                  <a:srgbClr val="2C2C2C"/>
                </a:solidFill>
                <a:latin typeface="Calibri" pitchFamily="34" charset="0"/>
              </a:rPr>
              <a:t>nav</a:t>
            </a:r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&gt;).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8639514-DDD4-4EC7-9EA2-C9C01C38CF69}"/>
              </a:ext>
            </a:extLst>
          </p:cNvPr>
          <p:cNvSpPr/>
          <p:nvPr/>
        </p:nvSpPr>
        <p:spPr>
          <a:xfrm>
            <a:off x="335280" y="2587803"/>
            <a:ext cx="4348480" cy="45719"/>
          </a:xfrm>
          <a:prstGeom prst="rect">
            <a:avLst/>
          </a:prstGeom>
          <a:solidFill>
            <a:srgbClr val="E8A020"/>
          </a:solidFill>
          <a:ln>
            <a:solidFill>
              <a:srgbClr val="E8A0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4386EBD-33E4-49A0-B104-C387C1F723A0}"/>
              </a:ext>
            </a:extLst>
          </p:cNvPr>
          <p:cNvSpPr/>
          <p:nvPr/>
        </p:nvSpPr>
        <p:spPr>
          <a:xfrm>
            <a:off x="1631756" y="4738747"/>
            <a:ext cx="1730920" cy="45719"/>
          </a:xfrm>
          <a:prstGeom prst="rect">
            <a:avLst/>
          </a:prstGeom>
          <a:solidFill>
            <a:srgbClr val="E8A020"/>
          </a:solidFill>
          <a:ln>
            <a:solidFill>
              <a:srgbClr val="E8A0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0" grpId="0" animBg="1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E0094A0-E6F9-4B31-A387-9BEBBFC0D25B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7040" y="72291"/>
            <a:ext cx="4200000" cy="491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</a:rPr>
              <a:t>CSS — ОФОРМЛЕНИЕ И СТИЛИ</a:t>
            </a:r>
          </a:p>
        </p:txBody>
      </p:sp>
      <p:sp>
        <p:nvSpPr>
          <p:cNvPr id="4" name="Shape 2"/>
          <p:cNvSpPr/>
          <p:nvPr/>
        </p:nvSpPr>
        <p:spPr>
          <a:xfrm>
            <a:off x="8537868" y="719853"/>
            <a:ext cx="109420" cy="148080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</a:ln>
        </p:spPr>
      </p:sp>
      <p:sp>
        <p:nvSpPr>
          <p:cNvPr id="5" name="Text 3"/>
          <p:cNvSpPr/>
          <p:nvPr/>
        </p:nvSpPr>
        <p:spPr>
          <a:xfrm>
            <a:off x="3973122" y="715640"/>
            <a:ext cx="4445984" cy="137000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ru-RU" sz="2400" b="1" dirty="0">
                <a:solidFill>
                  <a:srgbClr val="1E2D3D"/>
                </a:solidFill>
                <a:latin typeface="Calibri" pitchFamily="34" charset="0"/>
              </a:rPr>
              <a:t>Что такое CSS?</a:t>
            </a:r>
          </a:p>
          <a:p>
            <a:pPr marL="0" indent="0" algn="r">
              <a:buNone/>
            </a:pPr>
            <a:r>
              <a:rPr lang="ru-RU" sz="1600" dirty="0">
                <a:solidFill>
                  <a:srgbClr val="2C2C2C"/>
                </a:solidFill>
                <a:latin typeface="Calibri" pitchFamily="34" charset="0"/>
              </a:rPr>
              <a:t>CSS (Cascading Style Sheets) — язык описания внешнего вида HTML-документа. Без CSS даже грамотно размеченная страница — просто чёрный текст на белом фоне.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F9CB13-1C1D-400D-A4C2-6C7F425AC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4" y="880202"/>
            <a:ext cx="3831676" cy="3831676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86826A7A-1AFB-44E9-9BF6-5B5E344AA12B}"/>
              </a:ext>
            </a:extLst>
          </p:cNvPr>
          <p:cNvSpPr/>
          <p:nvPr/>
        </p:nvSpPr>
        <p:spPr>
          <a:xfrm>
            <a:off x="4059858" y="2200655"/>
            <a:ext cx="4445984" cy="284939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ru-RU" sz="2000" b="1" dirty="0">
                <a:solidFill>
                  <a:srgbClr val="1E2D3D"/>
                </a:solidFill>
                <a:latin typeface="Calibri" pitchFamily="34" charset="0"/>
              </a:rPr>
              <a:t>Применение в проекте: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1600" dirty="0" err="1">
                <a:solidFill>
                  <a:srgbClr val="2C2C2C"/>
                </a:solidFill>
                <a:latin typeface="Calibri" pitchFamily="34" charset="0"/>
              </a:rPr>
              <a:t>Flexbox</a:t>
            </a:r>
            <a:r>
              <a:rPr lang="ru-RU" sz="1600" dirty="0">
                <a:solidFill>
                  <a:srgbClr val="2C2C2C"/>
                </a:solidFill>
                <a:latin typeface="Calibri" pitchFamily="34" charset="0"/>
              </a:rPr>
              <a:t> — для шапки, навигации и строчных элементов</a:t>
            </a:r>
            <a:r>
              <a:rPr lang="en-US" sz="1600" dirty="0">
                <a:solidFill>
                  <a:srgbClr val="2C2C2C"/>
                </a:solidFill>
                <a:latin typeface="Calibri" pitchFamily="34" charset="0"/>
              </a:rPr>
              <a:t>;</a:t>
            </a:r>
            <a:endParaRPr lang="ru-RU" sz="1600" dirty="0">
              <a:solidFill>
                <a:srgbClr val="2C2C2C"/>
              </a:solidFill>
              <a:latin typeface="Calibri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1600" dirty="0">
                <a:solidFill>
                  <a:srgbClr val="2C2C2C"/>
                </a:solidFill>
                <a:latin typeface="Calibri" pitchFamily="34" charset="0"/>
              </a:rPr>
              <a:t>CSS Grid — для сетки карточек отелей и блока преимуществ</a:t>
            </a:r>
            <a:r>
              <a:rPr lang="en-US" sz="1600" dirty="0">
                <a:solidFill>
                  <a:srgbClr val="2C2C2C"/>
                </a:solidFill>
                <a:latin typeface="Calibri" pitchFamily="34" charset="0"/>
              </a:rPr>
              <a:t>;</a:t>
            </a:r>
            <a:endParaRPr lang="ru-RU" sz="1600" dirty="0">
              <a:solidFill>
                <a:srgbClr val="2C2C2C"/>
              </a:solidFill>
              <a:latin typeface="Calibri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1600" dirty="0">
                <a:solidFill>
                  <a:srgbClr val="2C2C2C"/>
                </a:solidFill>
                <a:latin typeface="Calibri" pitchFamily="34" charset="0"/>
              </a:rPr>
              <a:t>transition + :hover — плавное поднятие карточек при наведении</a:t>
            </a:r>
            <a:r>
              <a:rPr lang="en-US" sz="1600" dirty="0">
                <a:solidFill>
                  <a:srgbClr val="2C2C2C"/>
                </a:solidFill>
                <a:latin typeface="Calibri" pitchFamily="34" charset="0"/>
              </a:rPr>
              <a:t>;</a:t>
            </a:r>
            <a:endParaRPr lang="ru-RU" sz="1600" dirty="0">
              <a:solidFill>
                <a:srgbClr val="2C2C2C"/>
              </a:solidFill>
              <a:latin typeface="Calibri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1600" dirty="0">
                <a:solidFill>
                  <a:srgbClr val="2C2C2C"/>
                </a:solidFill>
                <a:latin typeface="Calibri" pitchFamily="34" charset="0"/>
              </a:rPr>
              <a:t>@media (max-width: 700px) — адаптивность под мобильные устройства</a:t>
            </a:r>
            <a:r>
              <a:rPr lang="en-US" sz="1600" dirty="0">
                <a:solidFill>
                  <a:srgbClr val="2C2C2C"/>
                </a:solidFill>
                <a:latin typeface="Calibri" pitchFamily="34" charset="0"/>
              </a:rPr>
              <a:t>;</a:t>
            </a:r>
            <a:endParaRPr lang="ru-RU" sz="1600" dirty="0">
              <a:solidFill>
                <a:srgbClr val="2C2C2C"/>
              </a:solidFill>
              <a:latin typeface="Calibri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ru-RU" sz="1600" dirty="0">
                <a:solidFill>
                  <a:srgbClr val="2C2C2C"/>
                </a:solidFill>
                <a:latin typeface="Calibri" pitchFamily="34" charset="0"/>
              </a:rPr>
              <a:t>Единый файл style.css — одно изменение отражается на всём сайте</a:t>
            </a:r>
            <a:r>
              <a:rPr lang="en-US" sz="1600" dirty="0">
                <a:solidFill>
                  <a:srgbClr val="2C2C2C"/>
                </a:solidFill>
                <a:latin typeface="Calibri" pitchFamily="34" charset="0"/>
              </a:rPr>
              <a:t>.</a:t>
            </a:r>
            <a:endParaRPr lang="ru-RU" sz="1600" dirty="0">
              <a:solidFill>
                <a:srgbClr val="2C2C2C"/>
              </a:solidFill>
              <a:latin typeface="Calibri" pitchFamily="34" charset="0"/>
            </a:endParaRPr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5568D3BF-1BC8-4A8D-A9CD-A0B6AEFBCCF1}"/>
              </a:ext>
            </a:extLst>
          </p:cNvPr>
          <p:cNvSpPr/>
          <p:nvPr/>
        </p:nvSpPr>
        <p:spPr>
          <a:xfrm>
            <a:off x="3863702" y="2160015"/>
            <a:ext cx="109420" cy="284939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</a:ln>
        </p:spPr>
      </p:sp>
    </p:spTree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3EBE76F-D234-4C67-AE73-C9649ED46059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2560" y="-8532"/>
            <a:ext cx="5308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</a:rPr>
              <a:t>JAVASCRIPT — ЛОГИКА И ИНТЕРАКТИВНОСТЬ</a:t>
            </a:r>
          </a:p>
        </p:txBody>
      </p:sp>
      <p:sp>
        <p:nvSpPr>
          <p:cNvPr id="4" name="Shape 2"/>
          <p:cNvSpPr/>
          <p:nvPr/>
        </p:nvSpPr>
        <p:spPr>
          <a:xfrm>
            <a:off x="274320" y="1239520"/>
            <a:ext cx="91440" cy="297044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</a:ln>
        </p:spPr>
      </p:sp>
      <p:sp>
        <p:nvSpPr>
          <p:cNvPr id="5" name="Text 3"/>
          <p:cNvSpPr/>
          <p:nvPr/>
        </p:nvSpPr>
        <p:spPr>
          <a:xfrm>
            <a:off x="436528" y="1275080"/>
            <a:ext cx="4300000" cy="30112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ru-RU" sz="2400" b="1" dirty="0">
                <a:solidFill>
                  <a:srgbClr val="1E2D3D"/>
                </a:solidFill>
                <a:latin typeface="Calibri" pitchFamily="34" charset="0"/>
              </a:rPr>
              <a:t>Что такое JavaScript?</a:t>
            </a:r>
          </a:p>
          <a:p>
            <a:pPr marL="0" indent="0">
              <a:buNone/>
            </a:pPr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JavaScript — это язык программирования, выполняющийся прямо в браузере. Он делает страницу интерактивной, а то есть, реагирует на действия пользователя и меняет содержимое без перезагрузки. Сюда относятся работа с DOM, использование </a:t>
            </a:r>
            <a:r>
              <a:rPr lang="ru-RU" sz="1500" dirty="0" err="1">
                <a:solidFill>
                  <a:srgbClr val="2C2C2C"/>
                </a:solidFill>
                <a:latin typeface="Calibri" pitchFamily="34" charset="0"/>
              </a:rPr>
              <a:t>Array.filter</a:t>
            </a:r>
            <a:r>
              <a:rPr lang="ru-RU" sz="1500" dirty="0">
                <a:solidFill>
                  <a:srgbClr val="2C2C2C"/>
                </a:solidFill>
                <a:latin typeface="Calibri" pitchFamily="34" charset="0"/>
              </a:rPr>
              <a:t>() — динамической фильтрации каталога, валидация 7 полей формы с регулярными выражениями, расчёт стоимости, а также модальное окно с подтверждением бронирования.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D0D57CE-AC2B-408B-A274-0D25E98E0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928" y="1173480"/>
            <a:ext cx="3199216" cy="3199216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B8BBD70-7A49-4D2A-8AFB-F661E6C2ECDE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76520" y="0"/>
            <a:ext cx="3063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СТРАНИЦА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79720" y="85344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🔘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882640" y="8534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«Найти отель»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82640" y="120091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Большая кнопка по центру Hero-баннера. При нажатии сразу переходит в каталог — без ввода данных.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79720" y="185928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882640" y="18592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Популярные направления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82640" y="220675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карточки городов (Баку, Стамбул, Дубай, Москва) с реальными фотографиями и актуальным количеством отелей.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79720" y="286512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882640" y="2865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преимуществ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82640" y="321259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«Безопасная оплата», «Мгновенное подтверждение», «Широкий выбор», «Поддержка клиентов».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79720" y="387096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882640" y="38709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Sticky-шапка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82640" y="411614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 прилипает к верху при прокрутке через position: sticky.</a:t>
            </a:r>
            <a:endParaRPr lang="en-US" sz="1000" dirty="0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6E76FBF-848A-499B-9C94-FFF84D75C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91820" cy="5143500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E890069-368B-4091-855A-8E09440A3072}"/>
              </a:ext>
            </a:extLst>
          </p:cNvPr>
          <p:cNvSpPr/>
          <p:nvPr/>
        </p:nvSpPr>
        <p:spPr>
          <a:xfrm>
            <a:off x="4891820" y="0"/>
            <a:ext cx="188180" cy="5143500"/>
          </a:xfrm>
          <a:prstGeom prst="rect">
            <a:avLst/>
          </a:prstGeom>
          <a:solidFill>
            <a:srgbClr val="344B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3643E93-8D41-4F20-ADC4-8BFE8BDAC5DC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77799" y="40640"/>
            <a:ext cx="3443009" cy="54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ОТЕЛЕЙ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2369" y="822960"/>
            <a:ext cx="2113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</a:t>
            </a:r>
            <a:r>
              <a:rPr lang="en-US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 </a:t>
            </a:r>
            <a:r>
              <a:rPr lang="en-US" sz="1300" b="1" dirty="0" err="1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реализовано</a:t>
            </a:r>
            <a:r>
              <a:rPr lang="en-US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3089" y="1275080"/>
            <a:ext cx="32918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3089" y="1275080"/>
            <a:ext cx="54864" cy="44805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311656"/>
            <a:ext cx="320758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отелей: Баку (3), Стамбул (2), Дубай (1), Москва (2);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3089" y="1805432"/>
            <a:ext cx="32918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3089" y="1805432"/>
            <a:ext cx="54864" cy="44805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1" y="1842008"/>
            <a:ext cx="270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Звёздность от 2 до 5 — есть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3089" y="2335784"/>
            <a:ext cx="32918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3089" y="2335784"/>
            <a:ext cx="54864" cy="44805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372360"/>
            <a:ext cx="192002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от 51₼ до 255₼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ночь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3089" y="2866136"/>
            <a:ext cx="32918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3089" y="2866136"/>
            <a:ext cx="54864" cy="44805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1" y="2902712"/>
            <a:ext cx="293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диапазон цен + звёздность +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3089" y="3396488"/>
            <a:ext cx="32918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3089" y="3396488"/>
            <a:ext cx="54864" cy="44805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433064"/>
            <a:ext cx="31534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обновляется без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перезагрузки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страницы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3089" y="3926840"/>
            <a:ext cx="32918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3089" y="3926840"/>
            <a:ext cx="54864" cy="448056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963416"/>
            <a:ext cx="315344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Фотографии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каждого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отеля</a:t>
            </a: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B02CE63-83FE-4192-A049-89CFBAC42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3869" y="0"/>
            <a:ext cx="5170131" cy="51435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A0184A8-F760-42C4-90DA-C87C026DBAB6}"/>
              </a:ext>
            </a:extLst>
          </p:cNvPr>
          <p:cNvSpPr/>
          <p:nvPr/>
        </p:nvSpPr>
        <p:spPr>
          <a:xfrm>
            <a:off x="3785689" y="0"/>
            <a:ext cx="188180" cy="5143500"/>
          </a:xfrm>
          <a:prstGeom prst="rect">
            <a:avLst/>
          </a:prstGeom>
          <a:solidFill>
            <a:srgbClr val="344B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7A3273F6-1EB0-4C36-9985-5333A47755C6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Shape 6"/>
          <p:cNvSpPr/>
          <p:nvPr/>
        </p:nvSpPr>
        <p:spPr>
          <a:xfrm>
            <a:off x="5996978" y="3585378"/>
            <a:ext cx="3140964" cy="155448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43282" y="0"/>
            <a:ext cx="185743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РАБОТАЕТ ФИЛЬТРАЦИЯ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15654" y="3205902"/>
            <a:ext cx="261232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Функция applyFilters() — JavaScript</a:t>
            </a:r>
            <a:r>
              <a:rPr lang="ru-RU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61570" y="3685962"/>
            <a:ext cx="100584" cy="100584"/>
          </a:xfrm>
          <a:prstGeom prst="ellips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44450" y="3685962"/>
            <a:ext cx="100584" cy="100584"/>
          </a:xfrm>
          <a:prstGeom prst="ellips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7330" y="3685962"/>
            <a:ext cx="100584" cy="100584"/>
          </a:xfrm>
          <a:prstGeom prst="ellips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61570" y="3868842"/>
            <a:ext cx="2920492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en-US" sz="10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filtered </a:t>
            </a: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hotels.</a:t>
            </a:r>
            <a:r>
              <a:rPr lang="en-US" sz="1000" dirty="0">
                <a:solidFill>
                  <a:srgbClr val="E5C0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 =&gt;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h.price </a:t>
            </a:r>
            <a:r>
              <a:rPr lang="en-US" sz="1000" dirty="0">
                <a:solidFill>
                  <a:srgbClr val="E06C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 </a:t>
            </a:r>
            <a:r>
              <a:rPr lang="en-US" sz="10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h.price </a:t>
            </a:r>
            <a:r>
              <a:rPr lang="en-US" sz="1000" dirty="0">
                <a:solidFill>
                  <a:srgbClr val="E06C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 </a:t>
            </a:r>
            <a:r>
              <a:rPr lang="en-US" sz="10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h.city </a:t>
            </a:r>
            <a:r>
              <a:rPr lang="en-US" sz="1000" dirty="0">
                <a:solidFill>
                  <a:srgbClr val="E06C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</a:t>
            </a: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
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5C0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renderHotels</a:t>
            </a:r>
            <a:r>
              <a:rPr lang="en-US" sz="10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(filtered);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3282" y="739902"/>
            <a:ext cx="384048" cy="384048"/>
          </a:xfrm>
          <a:prstGeom prst="ellipse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3282" y="7524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27914" y="706712"/>
            <a:ext cx="2270252" cy="4477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27914" y="706712"/>
            <a:ext cx="2143252" cy="4477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Считываем значения фильтров </a:t>
            </a:r>
            <a:r>
              <a:rPr lang="en-US" sz="12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DOM;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3282" y="1413002"/>
            <a:ext cx="384048" cy="384048"/>
          </a:xfrm>
          <a:prstGeom prst="ellipse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3282" y="141300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627914" y="1367282"/>
            <a:ext cx="2270252" cy="4477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27914" y="1367282"/>
            <a:ext cx="207721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.filter() проходит по всему </a:t>
            </a:r>
            <a:r>
              <a:rPr lang="en-US" sz="12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массиву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hotels;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43282" y="2054014"/>
            <a:ext cx="384048" cy="384048"/>
          </a:xfrm>
          <a:prstGeom prst="ellipse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3282" y="205401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627914" y="2008294"/>
            <a:ext cx="2270252" cy="4477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27914" y="2008294"/>
            <a:ext cx="214325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Остаются только отели, подходящие под </a:t>
            </a:r>
            <a:r>
              <a:rPr lang="en-US" sz="12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43282" y="2684442"/>
            <a:ext cx="384048" cy="384048"/>
          </a:xfrm>
          <a:prstGeom prst="ellipse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43282" y="26844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7914" y="2638722"/>
            <a:ext cx="2270252" cy="4477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27914" y="2638722"/>
            <a:ext cx="2234692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renderHotels() перерисовывает карточки </a:t>
            </a:r>
            <a:r>
              <a:rPr lang="en-US" sz="12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странице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C9875D18-5BE0-467D-A080-33944355A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861" y="-3642"/>
            <a:ext cx="6002612" cy="5147142"/>
          </a:xfrm>
          <a:prstGeom prst="rect">
            <a:avLst/>
          </a:prstGeom>
        </p:spPr>
      </p:pic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3BE4D77F-5CF6-43BB-9455-46AF526D4FF1}"/>
              </a:ext>
            </a:extLst>
          </p:cNvPr>
          <p:cNvSpPr/>
          <p:nvPr/>
        </p:nvSpPr>
        <p:spPr>
          <a:xfrm>
            <a:off x="5996978" y="0"/>
            <a:ext cx="89741" cy="5143500"/>
          </a:xfrm>
          <a:prstGeom prst="rect">
            <a:avLst/>
          </a:prstGeom>
          <a:solidFill>
            <a:srgbClr val="344B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"/>
                            </p:stCondLst>
                            <p:childTnLst>
                              <p:par>
                                <p:cTn id="7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4500"/>
                            </p:stCondLst>
                            <p:childTnLst>
                              <p:par>
                                <p:cTn id="9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5500"/>
                            </p:stCondLst>
                            <p:childTnLst>
                              <p:par>
                                <p:cTn id="102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6000"/>
                            </p:stCondLst>
                            <p:childTnLst>
                              <p:par>
                                <p:cTn id="10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8E1C7546-FFB9-4F1C-8615-CE2A1D566E50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4367" y="0"/>
            <a:ext cx="343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БРОНИРОВАНИЯ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8027" y="767207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механики: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8027" y="1187831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3747" y="1233551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00947" y="1233551"/>
            <a:ext cx="16960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расчёт суммы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0947" y="1544447"/>
            <a:ext cx="2697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выборе отеля и дат сумма обновляется в реальном времени: ночи × цена в ₼.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8027" y="2147951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3747" y="2193671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00947" y="2193671"/>
            <a:ext cx="141911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7 полей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0947" y="2504567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Имя, фамилия, email, телефон, отель, заезд, выезд —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</a:t>
            </a:r>
            <a:r>
              <a:rPr lang="en-US" sz="10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проверяется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отдельно.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98027" y="3108071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3747" y="3153791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00947" y="3108070"/>
            <a:ext cx="1353168" cy="2792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Модальное окно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0947" y="3363058"/>
            <a:ext cx="2697480" cy="5039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успешной отправки появляется подтверждение с именем пользователя и названием отеля.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8027" y="4068191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43747" y="4113911"/>
            <a:ext cx="411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0947" y="4113911"/>
            <a:ext cx="119051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дат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0947" y="4424807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выбрать дату выезда раньше заезда — JavaScript сравнивает Date-объекты.</a:t>
            </a:r>
            <a:endParaRPr lang="en-US" sz="1000" dirty="0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A2ACB94B-8309-4292-85B8-B6023AFE5A6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804920" y="0"/>
            <a:ext cx="5339080" cy="51435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E3CFABC0-9DDD-4CAE-ADEF-BA5868B5530A}"/>
              </a:ext>
            </a:extLst>
          </p:cNvPr>
          <p:cNvPicPr/>
          <p:nvPr/>
        </p:nvPicPr>
        <p:blipFill rotWithShape="1">
          <a:blip r:embed="rId4"/>
          <a:srcRect l="11265" t="8583" r="14183" b="6964"/>
          <a:stretch/>
        </p:blipFill>
        <p:spPr>
          <a:xfrm>
            <a:off x="7486650" y="2863511"/>
            <a:ext cx="1582615" cy="1607016"/>
          </a:xfrm>
          <a:prstGeom prst="roundRect">
            <a:avLst>
              <a:gd name="adj" fmla="val 788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AB9DFCEC-8D13-4F3B-8B8B-239C6EF79F31}"/>
              </a:ext>
            </a:extLst>
          </p:cNvPr>
          <p:cNvSpPr/>
          <p:nvPr/>
        </p:nvSpPr>
        <p:spPr>
          <a:xfrm>
            <a:off x="7435525" y="4490480"/>
            <a:ext cx="1684866" cy="474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ru-RU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подтверждения бронирования</a:t>
            </a:r>
            <a:endParaRPr lang="en-US" sz="1000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C3820E1-7304-47B9-BA3B-BEF89BEBF6B8}"/>
              </a:ext>
            </a:extLst>
          </p:cNvPr>
          <p:cNvSpPr/>
          <p:nvPr/>
        </p:nvSpPr>
        <p:spPr>
          <a:xfrm>
            <a:off x="3736440" y="0"/>
            <a:ext cx="89741" cy="5143500"/>
          </a:xfrm>
          <a:prstGeom prst="rect">
            <a:avLst/>
          </a:prstGeom>
          <a:solidFill>
            <a:srgbClr val="344B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000"/>
                            </p:stCondLst>
                            <p:childTnLst>
                              <p:par>
                                <p:cTn id="6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0"/>
                            </p:stCondLst>
                            <p:childTnLst>
                              <p:par>
                                <p:cTn id="73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500"/>
                            </p:stCondLst>
                            <p:childTnLst>
                              <p:par>
                                <p:cTn id="7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3" grpId="0" animBg="1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FF1ED69-A771-413E-8D79-723BA27657FA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ВАЛИДАЦИЯ ФОРМ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754880" cy="411480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96112"/>
            <a:ext cx="109728" cy="109728"/>
          </a:xfrm>
          <a:prstGeom prst="ellips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896112"/>
            <a:ext cx="109728" cy="109728"/>
          </a:xfrm>
          <a:prstGeom prst="ellips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896112"/>
            <a:ext cx="109728" cy="109728"/>
          </a:xfrm>
          <a:prstGeom prst="ellips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400" y="1229360"/>
            <a:ext cx="4069080" cy="32664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r>
              <a:rPr lang="en-US" sz="1200" dirty="0">
                <a:solidFill>
                  <a:srgbClr val="E5C0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submitBooking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</a:t>
            </a: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 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20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</a:t>
            </a: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getElementById(</a:t>
            </a: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200" dirty="0" err="1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(!el.value.</a:t>
            </a: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trim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 err="1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errEl.textContent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r>
              <a:rPr lang="ru-RU" sz="1200" dirty="0"/>
              <a:t> </a:t>
            </a: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200" dirty="0" err="1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Поле</a:t>
            </a: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 err="1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обязательно</a:t>
            </a: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valid = </a:t>
            </a:r>
            <a:r>
              <a:rPr lang="en-US" sz="120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  }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</a:t>
            </a: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emailRe 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/</a:t>
            </a: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^[^@]+@[^@]+\.[^@]+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(!emailRe.</a:t>
            </a: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(email.value))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valid = </a:t>
            </a:r>
            <a:r>
              <a:rPr lang="en-US" sz="1200" dirty="0">
                <a:solidFill>
                  <a:srgbClr val="D19A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  }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(!valid) </a:t>
            </a: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 err="1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showModal</a:t>
            </a: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82296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57800" y="822960"/>
            <a:ext cx="54864" cy="868680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6672" y="87782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Флаг valid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76672" y="1207008"/>
            <a:ext cx="3456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Начинается как true. Если хоть одно поле не прошло проверку, становится false.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57800" y="182880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57800" y="1828800"/>
            <a:ext cx="54864" cy="868680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76672" y="188366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пустых полей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76672" y="2212848"/>
            <a:ext cx="3456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.trim() убирает пробелы — нельзя отправить форму, заполненную пробелами.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57800" y="2834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57800" y="2834640"/>
            <a:ext cx="54864" cy="868680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76672" y="288950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через regex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76672" y="3218688"/>
            <a:ext cx="3456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Регулярное выражение проверяет наличие @ и точки в правильных позициях.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57800" y="384048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57800" y="3840480"/>
            <a:ext cx="54864" cy="868680"/>
          </a:xfrm>
          <a:prstGeom prst="rect">
            <a:avLst/>
          </a:prstGeom>
          <a:solidFill>
            <a:srgbClr val="4A7FA5"/>
          </a:solidFill>
          <a:ln w="12700">
            <a:solidFill>
              <a:srgbClr val="4A7F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76672" y="389534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Ранний выход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76672" y="4224528"/>
            <a:ext cx="3456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valid === false, функция завершается и модальное окно не показывается.</a:t>
            </a:r>
            <a:endParaRPr lang="en-US" sz="1000" dirty="0"/>
          </a:p>
        </p:txBody>
      </p:sp>
    </p:spTree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466E921-D1D3-4FA4-ABBC-5924A3B6556A}"/>
              </a:ext>
            </a:extLst>
          </p:cNvPr>
          <p:cNvSpPr/>
          <p:nvPr/>
        </p:nvSpPr>
        <p:spPr>
          <a:xfrm>
            <a:off x="0" y="-8532"/>
            <a:ext cx="9144000" cy="51520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CE734A2A-F4A2-4255-83EA-66CF89592B12}"/>
              </a:ext>
            </a:extLst>
          </p:cNvPr>
          <p:cNvSpPr/>
          <p:nvPr/>
        </p:nvSpPr>
        <p:spPr>
          <a:xfrm>
            <a:off x="3243173" y="4179316"/>
            <a:ext cx="3863747" cy="748284"/>
          </a:xfrm>
          <a:custGeom>
            <a:avLst/>
            <a:gdLst>
              <a:gd name="connsiteX0" fmla="*/ 23267 w 4046627"/>
              <a:gd name="connsiteY0" fmla="*/ 12410 h 564228"/>
              <a:gd name="connsiteX1" fmla="*/ 119787 w 4046627"/>
              <a:gd name="connsiteY1" fmla="*/ 444210 h 564228"/>
              <a:gd name="connsiteX2" fmla="*/ 952907 w 4046627"/>
              <a:gd name="connsiteY2" fmla="*/ 545810 h 564228"/>
              <a:gd name="connsiteX3" fmla="*/ 1902867 w 4046627"/>
              <a:gd name="connsiteY3" fmla="*/ 134330 h 564228"/>
              <a:gd name="connsiteX4" fmla="*/ 2568347 w 4046627"/>
              <a:gd name="connsiteY4" fmla="*/ 2250 h 564228"/>
              <a:gd name="connsiteX5" fmla="*/ 3543707 w 4046627"/>
              <a:gd name="connsiteY5" fmla="*/ 220690 h 564228"/>
              <a:gd name="connsiteX6" fmla="*/ 4046627 w 4046627"/>
              <a:gd name="connsiteY6" fmla="*/ 505170 h 564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6627" h="564228">
                <a:moveTo>
                  <a:pt x="23267" y="12410"/>
                </a:moveTo>
                <a:cubicBezTo>
                  <a:pt x="-5943" y="183860"/>
                  <a:pt x="-35153" y="355310"/>
                  <a:pt x="119787" y="444210"/>
                </a:cubicBezTo>
                <a:cubicBezTo>
                  <a:pt x="274727" y="533110"/>
                  <a:pt x="655727" y="597457"/>
                  <a:pt x="952907" y="545810"/>
                </a:cubicBezTo>
                <a:cubicBezTo>
                  <a:pt x="1250087" y="494163"/>
                  <a:pt x="1633627" y="224923"/>
                  <a:pt x="1902867" y="134330"/>
                </a:cubicBezTo>
                <a:cubicBezTo>
                  <a:pt x="2172107" y="43737"/>
                  <a:pt x="2294874" y="-12143"/>
                  <a:pt x="2568347" y="2250"/>
                </a:cubicBezTo>
                <a:cubicBezTo>
                  <a:pt x="2841820" y="16643"/>
                  <a:pt x="3297327" y="136870"/>
                  <a:pt x="3543707" y="220690"/>
                </a:cubicBezTo>
                <a:cubicBezTo>
                  <a:pt x="3790087" y="304510"/>
                  <a:pt x="3918357" y="404840"/>
                  <a:pt x="4046627" y="505170"/>
                </a:cubicBezTo>
              </a:path>
            </a:pathLst>
          </a:custGeom>
          <a:noFill/>
          <a:ln w="28575">
            <a:solidFill>
              <a:srgbClr val="547EA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56632" y="-17272"/>
            <a:ext cx="303377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КОНТАКТОВ И СТРУКТУРА ПРОЕКТА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57900" y="754380"/>
            <a:ext cx="205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файлов проекта: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7168" y="1207008"/>
            <a:ext cx="4116832" cy="2331720"/>
          </a:xfrm>
          <a:prstGeom prst="rect">
            <a:avLst/>
          </a:prstGeom>
          <a:solidFill>
            <a:srgbClr val="1A1A2E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4648" y="1307592"/>
            <a:ext cx="100584" cy="100584"/>
          </a:xfrm>
          <a:prstGeom prst="ellips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67528" y="1307592"/>
            <a:ext cx="100584" cy="100584"/>
          </a:xfrm>
          <a:prstGeom prst="ellips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50408" y="1307592"/>
            <a:ext cx="100584" cy="100584"/>
          </a:xfrm>
          <a:prstGeom prst="ellips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38928" y="1581404"/>
            <a:ext cx="3664712" cy="17840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5C0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hotel-project/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index.html      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</a:t>
            </a:r>
            <a:r>
              <a:rPr lang="en-US" sz="120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главная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hotels.html     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</a:t>
            </a:r>
            <a:r>
              <a:rPr lang="en-US" sz="120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каталог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отелей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booking.html    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</a:t>
            </a:r>
            <a:r>
              <a:rPr lang="en-US" sz="120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бронирование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отеля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61A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contacts.html   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</a:t>
            </a:r>
            <a:r>
              <a:rPr lang="en-US" sz="120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контакты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678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style.css       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</a:t>
            </a:r>
            <a:r>
              <a:rPr lang="en-US" sz="120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стили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main.js         </a:t>
            </a:r>
            <a:r>
              <a:rPr lang="ru-RU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</a:t>
            </a:r>
            <a:r>
              <a:rPr lang="en-US" sz="120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логика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4856" y="4577588"/>
            <a:ext cx="2085784" cy="3500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проекта:</a:t>
            </a:r>
            <a:endParaRPr lang="en-US" sz="2000" i="1" dirty="0"/>
          </a:p>
        </p:txBody>
      </p:sp>
      <p:sp>
        <p:nvSpPr>
          <p:cNvPr id="14" name="Shape 12"/>
          <p:cNvSpPr/>
          <p:nvPr/>
        </p:nvSpPr>
        <p:spPr>
          <a:xfrm>
            <a:off x="335280" y="3982212"/>
            <a:ext cx="32410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5280" y="3982212"/>
            <a:ext cx="324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страницы с единым дизайном, шапкой и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подвалом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8728" y="3977640"/>
            <a:ext cx="224332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8728" y="3977640"/>
            <a:ext cx="2243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Динамический каталог из массива + фильтрация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перезагрузки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64688" y="4678527"/>
            <a:ext cx="2174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64688" y="4678527"/>
            <a:ext cx="217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7 полей, расчёт суммы,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модальное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607175" y="4562856"/>
            <a:ext cx="224332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07175" y="4562856"/>
            <a:ext cx="2243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цены в манатах,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5ACF48B4-2245-451D-A01A-AA40D602F1B0}"/>
              </a:ext>
            </a:extLst>
          </p:cNvPr>
          <p:cNvPicPr/>
          <p:nvPr/>
        </p:nvPicPr>
        <p:blipFill rotWithShape="1">
          <a:blip r:embed="rId3"/>
          <a:srcRect t="1406"/>
          <a:stretch/>
        </p:blipFill>
        <p:spPr>
          <a:xfrm>
            <a:off x="98" y="0"/>
            <a:ext cx="5027168" cy="39166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0"/>
                            </p:stCondLst>
                            <p:childTnLst>
                              <p:par>
                                <p:cTn id="6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" grpId="0" animBg="1"/>
      <p:bldP spid="7" grpId="0" animBg="1"/>
      <p:bldP spid="12" grpId="0" animBg="1"/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3F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DFBD46B-86B7-4F00-AC23-E3E088637B01}"/>
              </a:ext>
            </a:extLst>
          </p:cNvPr>
          <p:cNvSpPr/>
          <p:nvPr/>
        </p:nvSpPr>
        <p:spPr>
          <a:xfrm>
            <a:off x="-2775" y="0"/>
            <a:ext cx="9146775" cy="5143499"/>
          </a:xfrm>
          <a:prstGeom prst="rect">
            <a:avLst/>
          </a:prstGeom>
          <a:solidFill>
            <a:srgbClr val="353F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0" y="2633471"/>
            <a:ext cx="7198360" cy="45719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DF32690-369D-4955-97D1-44C5758C5F68}"/>
              </a:ext>
            </a:extLst>
          </p:cNvPr>
          <p:cNvSpPr/>
          <p:nvPr/>
        </p:nvSpPr>
        <p:spPr>
          <a:xfrm>
            <a:off x="-2775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02752" y="196596"/>
            <a:ext cx="201168" cy="20116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3223" y="484632"/>
            <a:ext cx="128016" cy="128016"/>
          </a:xfrm>
          <a:prstGeom prst="ellipse">
            <a:avLst/>
          </a:prstGeom>
          <a:solidFill>
            <a:srgbClr val="F2C55C"/>
          </a:solidFill>
          <a:ln w="12700">
            <a:solidFill>
              <a:srgbClr val="F2C5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6648" y="1508759"/>
            <a:ext cx="6842760" cy="45719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4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 8"/>
          <p:cNvSpPr/>
          <p:nvPr/>
        </p:nvSpPr>
        <p:spPr>
          <a:xfrm>
            <a:off x="2677160" y="2803648"/>
            <a:ext cx="3789680" cy="546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Надеюсь, что данная работа произвела на Вас хорошее впечатление!</a:t>
            </a:r>
            <a:endParaRPr lang="en-US" sz="1400" dirty="0"/>
          </a:p>
        </p:txBody>
      </p:sp>
      <p:sp>
        <p:nvSpPr>
          <p:cNvPr id="2" name="Shape 0"/>
          <p:cNvSpPr/>
          <p:nvPr/>
        </p:nvSpPr>
        <p:spPr>
          <a:xfrm>
            <a:off x="-1014984" y="-2854960"/>
            <a:ext cx="4572000" cy="4572000"/>
          </a:xfrm>
          <a:prstGeom prst="ellipse">
            <a:avLst/>
          </a:prstGeom>
          <a:solidFill>
            <a:srgbClr val="213354">
              <a:alpha val="80000"/>
            </a:srgbClr>
          </a:solidFill>
          <a:ln w="38100">
            <a:solidFill>
              <a:srgbClr val="E8A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80480" y="2450589"/>
            <a:ext cx="3200400" cy="3200400"/>
          </a:xfrm>
          <a:prstGeom prst="ellipse">
            <a:avLst/>
          </a:prstGeom>
          <a:solidFill>
            <a:srgbClr val="213354">
              <a:alpha val="75000"/>
            </a:srgbClr>
          </a:solidFill>
          <a:ln w="38100">
            <a:solidFill>
              <a:srgbClr val="F2C55C"/>
            </a:solidFill>
            <a:prstDash val="solid"/>
          </a:ln>
        </p:spPr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77A48013-B8FE-4A20-BDD1-9AABCE4ECCCB}"/>
              </a:ext>
            </a:extLst>
          </p:cNvPr>
          <p:cNvSpPr/>
          <p:nvPr/>
        </p:nvSpPr>
        <p:spPr>
          <a:xfrm>
            <a:off x="1143000" y="4907280"/>
            <a:ext cx="128016" cy="128016"/>
          </a:xfrm>
          <a:prstGeom prst="ellipse">
            <a:avLst/>
          </a:prstGeom>
          <a:solidFill>
            <a:srgbClr val="F2C55C"/>
          </a:solidFill>
          <a:ln w="12700">
            <a:solidFill>
              <a:srgbClr val="F2C55C"/>
            </a:solidFill>
            <a:prstDash val="solid"/>
          </a:ln>
        </p:spPr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75565E18-49ED-48CB-87AD-C4AE164CA232}"/>
              </a:ext>
            </a:extLst>
          </p:cNvPr>
          <p:cNvSpPr/>
          <p:nvPr/>
        </p:nvSpPr>
        <p:spPr>
          <a:xfrm>
            <a:off x="847480" y="4581653"/>
            <a:ext cx="201168" cy="20116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7B6112A5-E5D5-4D4E-A887-14DC4F498982}"/>
              </a:ext>
            </a:extLst>
          </p:cNvPr>
          <p:cNvSpPr/>
          <p:nvPr/>
        </p:nvSpPr>
        <p:spPr>
          <a:xfrm>
            <a:off x="352219" y="4242815"/>
            <a:ext cx="348957" cy="338838"/>
          </a:xfrm>
          <a:prstGeom prst="ellipse">
            <a:avLst/>
          </a:prstGeom>
          <a:solidFill>
            <a:srgbClr val="DB9D13"/>
          </a:solidFill>
          <a:ln w="12700">
            <a:noFill/>
            <a:prstDash val="solid"/>
          </a:ln>
        </p:spPr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500"/>
                            </p:stCondLst>
                            <p:childTnLst>
                              <p:par>
                                <p:cTn id="4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500"/>
                            </p:stCondLst>
                            <p:childTnLst>
                              <p:par>
                                <p:cTn id="6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0" grpId="1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904</Words>
  <Application>Microsoft Office PowerPoint</Application>
  <PresentationFormat>Экран (16:9)</PresentationFormat>
  <Paragraphs>126</Paragraphs>
  <Slides>11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Arial Black</vt:lpstr>
      <vt:lpstr>Calibri</vt:lpstr>
      <vt:lpstr>Courier New</vt:lpstr>
      <vt:lpstr>Georgia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онлайн-бронирования отелей</dc:title>
  <cp:lastModifiedBy>Саид Мухтиев</cp:lastModifiedBy>
  <cp:revision>5</cp:revision>
  <dcterms:created xsi:type="dcterms:W3CDTF">2026-05-10T23:58:27Z</dcterms:created>
  <dcterms:modified xsi:type="dcterms:W3CDTF">2026-05-14T19:25:54Z</dcterms:modified>
</cp:coreProperties>
</file>