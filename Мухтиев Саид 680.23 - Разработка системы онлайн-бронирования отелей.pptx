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55C"/>
    <a:srgbClr val="3A517A"/>
    <a:srgbClr val="273753"/>
    <a:srgbClr val="DB9D13"/>
    <a:srgbClr val="E6A514"/>
    <a:srgbClr val="C58615"/>
    <a:srgbClr val="353F51"/>
    <a:srgbClr val="4D5C76"/>
    <a:srgbClr val="547EA2"/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7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68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840480" cy="3840480"/>
          </a:xfrm>
          <a:prstGeom prst="ellipse">
            <a:avLst/>
          </a:prstGeom>
          <a:solidFill>
            <a:srgbClr val="213354">
              <a:alpha val="70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3200400"/>
            <a:ext cx="2286000" cy="2286000"/>
          </a:xfrm>
          <a:prstGeom prst="ellipse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F2C5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29968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71211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РАЗРАБОТКА СИСТЕМЫ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5007" y="950976"/>
            <a:ext cx="5668401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ОНЛАЙН-БРОНИРОВАНИЯ</a:t>
            </a:r>
            <a:endParaRPr lang="ru-RU" sz="2800" b="1" kern="0" spc="50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 algn="l">
              <a:buNone/>
            </a:pPr>
            <a:r>
              <a:rPr lang="en-US" sz="2800" b="1" kern="0" spc="5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ОТЕЛЕЙ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464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Курсовая работа по дисциплине «Веб-системы и технологии»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08565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Мухтиев Саид </a:t>
            </a: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en-US" sz="1300" b="1" dirty="0" err="1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1300" b="1" dirty="0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№</a:t>
            </a: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680.23</a:t>
            </a: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Преподаватели: </a:t>
            </a: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Халилов </a:t>
            </a:r>
            <a:r>
              <a:rPr lang="ru-RU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Матлаб</a:t>
            </a: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Алиев Джамиль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9140" y="3479663"/>
            <a:ext cx="1828800" cy="1133856"/>
          </a:xfrm>
          <a:prstGeom prst="rect">
            <a:avLst/>
          </a:prstGeom>
          <a:solidFill>
            <a:srgbClr val="243A5A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9140" y="3479663"/>
            <a:ext cx="18288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9140" y="362596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1118" y="4083167"/>
            <a:ext cx="1164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траницы</a:t>
            </a:r>
            <a:r>
              <a:rPr lang="ru-RU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имеет данный сайт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6801" y="3495548"/>
            <a:ext cx="1828800" cy="1133856"/>
          </a:xfrm>
          <a:prstGeom prst="rect">
            <a:avLst/>
          </a:prstGeom>
          <a:solidFill>
            <a:srgbClr val="243A5A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6801" y="3495548"/>
            <a:ext cx="18288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6801" y="36418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40481" y="4099052"/>
            <a:ext cx="1361440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0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телей</a:t>
            </a:r>
            <a:r>
              <a:rPr lang="ru-RU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содержится в каталоге сайта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4462" y="3495548"/>
            <a:ext cx="1828800" cy="1133856"/>
          </a:xfrm>
          <a:prstGeom prst="rect">
            <a:avLst/>
          </a:prstGeom>
          <a:solidFill>
            <a:srgbClr val="243A5A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4462" y="3495548"/>
            <a:ext cx="18288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4462" y="36418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10682" y="4099051"/>
            <a:ext cx="1386840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JS </a:t>
            </a:r>
            <a:r>
              <a:rPr lang="en-US" sz="10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r>
              <a:rPr lang="ru-RU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использовался в работе</a:t>
            </a:r>
            <a:endParaRPr lang="en-US" sz="10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A05B6C1-E2D3-4886-A4B8-847F3B96BE3D}"/>
              </a:ext>
            </a:extLst>
          </p:cNvPr>
          <p:cNvSpPr/>
          <p:nvPr/>
        </p:nvSpPr>
        <p:spPr>
          <a:xfrm>
            <a:off x="0" y="4896866"/>
            <a:ext cx="9144000" cy="260858"/>
          </a:xfrm>
          <a:prstGeom prst="rect">
            <a:avLst/>
          </a:prstGeom>
          <a:solidFill>
            <a:srgbClr val="3A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61060564-5005-4322-8326-D8C712C2346F}"/>
              </a:ext>
            </a:extLst>
          </p:cNvPr>
          <p:cNvSpPr/>
          <p:nvPr/>
        </p:nvSpPr>
        <p:spPr>
          <a:xfrm>
            <a:off x="8128586" y="4880991"/>
            <a:ext cx="964614" cy="26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b="1" i="1" dirty="0">
                <a:solidFill>
                  <a:srgbClr val="F2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2026-ой год</a:t>
            </a:r>
            <a:endParaRPr lang="en-US" sz="1200" b="1" dirty="0">
              <a:solidFill>
                <a:srgbClr val="F2C55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00"/>
                            </p:stCondLst>
                            <p:childTnLst>
                              <p:par>
                                <p:cTn id="98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0"/>
                            </p:stCondLst>
                            <p:childTnLst>
                              <p:par>
                                <p:cTn id="103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76520" y="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79720" y="853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82640" y="853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«Найти отель»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82640" y="12009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кнопка по центру Hero-баннера. При нажатии сразу переходит в каталог — без ввода данных.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79720" y="1859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82640" y="1859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Популярные направления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82640" y="22067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карточки городов (Баку, Стамбул, Дубай, Москва) с реальными фотографиями и актуальным количеством отелей.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79720" y="2865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82640" y="2865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преимуществ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82640" y="32125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«Безопасная оплата», «Мгновенное подтверждение», «Широкий выбор», «Поддержка клиентов».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9720" y="3870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82640" y="3870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Sticky-шапка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82640" y="41161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прилипает к верху при прокрутке через position: sticky.</a:t>
            </a:r>
            <a:endParaRPr lang="en-US" sz="10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6E76FBF-848A-499B-9C94-FFF84D75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91820" cy="514350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E890069-368B-4091-855A-8E09440A3072}"/>
              </a:ext>
            </a:extLst>
          </p:cNvPr>
          <p:cNvSpPr/>
          <p:nvPr/>
        </p:nvSpPr>
        <p:spPr>
          <a:xfrm>
            <a:off x="4891820" y="0"/>
            <a:ext cx="188180" cy="5143500"/>
          </a:xfrm>
          <a:prstGeom prst="rect">
            <a:avLst/>
          </a:prstGeom>
          <a:solidFill>
            <a:srgbClr val="344B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7799" y="40640"/>
            <a:ext cx="3443009" cy="54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ОТЕЛЕЙ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2369" y="822960"/>
            <a:ext cx="211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</a:t>
            </a:r>
            <a:r>
              <a:rPr lang="en-US" sz="1300" b="1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3089" y="1275080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3089" y="1275080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11656"/>
            <a:ext cx="32075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отелей: Баку (3), Стамбул (2), Дубай (1), Москва (2);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3089" y="1805432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3089" y="1805432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1" y="1842008"/>
            <a:ext cx="270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Звёздность от 2 до 5 — есть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3089" y="2335784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3089" y="2335784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2360"/>
            <a:ext cx="1920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от 51₼ до 255₼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3089" y="2866136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3089" y="2866136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1" y="2902712"/>
            <a:ext cx="293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диапазон цен + звёздность +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3089" y="3396488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3089" y="3396488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33064"/>
            <a:ext cx="31534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обновляется без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перезагрузки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3089" y="3926840"/>
            <a:ext cx="3291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3089" y="3926840"/>
            <a:ext cx="54864" cy="44805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3416"/>
            <a:ext cx="315344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каждого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отеля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B02CE63-83FE-4192-A049-89CFBAC4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869" y="0"/>
            <a:ext cx="5170131" cy="5143500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A0184A8-F760-42C4-90DA-C87C026DBAB6}"/>
              </a:ext>
            </a:extLst>
          </p:cNvPr>
          <p:cNvSpPr/>
          <p:nvPr/>
        </p:nvSpPr>
        <p:spPr>
          <a:xfrm>
            <a:off x="3785689" y="0"/>
            <a:ext cx="188180" cy="5143500"/>
          </a:xfrm>
          <a:prstGeom prst="rect">
            <a:avLst/>
          </a:prstGeom>
          <a:solidFill>
            <a:srgbClr val="344B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996978" y="3585378"/>
            <a:ext cx="3140964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43282" y="0"/>
            <a:ext cx="18574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ФИЛЬТРАЦИЯ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15654" y="3205902"/>
            <a:ext cx="26123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applyFilters() — JavaScript</a:t>
            </a:r>
            <a:r>
              <a:rPr lang="ru-RU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61570" y="3685962"/>
            <a:ext cx="100584" cy="100584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4450" y="3685962"/>
            <a:ext cx="100584" cy="100584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7330" y="3685962"/>
            <a:ext cx="100584" cy="100584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1570" y="3868842"/>
            <a:ext cx="2920492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 </a:t>
            </a: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hotels.</a:t>
            </a: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h.price </a:t>
            </a: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</a:t>
            </a: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h.price </a:t>
            </a: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 </a:t>
            </a: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h.city </a:t>
            </a:r>
            <a:r>
              <a:rPr lang="en-US" sz="10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</a:t>
            </a: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renderHotels</a:t>
            </a: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(filtered);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3282" y="739902"/>
            <a:ext cx="384048" cy="38404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3282" y="752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7914" y="706712"/>
            <a:ext cx="2270252" cy="4477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7914" y="706712"/>
            <a:ext cx="2143252" cy="447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Считываем значения фильтров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3282" y="1413002"/>
            <a:ext cx="384048" cy="38404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3282" y="14130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7914" y="1367282"/>
            <a:ext cx="2270252" cy="4477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7914" y="1367282"/>
            <a:ext cx="20772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.filter() проходит по всему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массиву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hotels;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3282" y="2054014"/>
            <a:ext cx="384048" cy="38404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3282" y="205401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7914" y="2008294"/>
            <a:ext cx="2270252" cy="4477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7914" y="2008294"/>
            <a:ext cx="214325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Остаются только отели, подходящие под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3282" y="2684442"/>
            <a:ext cx="384048" cy="384048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3282" y="26844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7914" y="2638722"/>
            <a:ext cx="2270252" cy="4477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27914" y="2638722"/>
            <a:ext cx="22346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renderHotels() перерисовывает карточки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странице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9875D18-5BE0-467D-A080-33944355A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61" y="-3642"/>
            <a:ext cx="6002612" cy="5147142"/>
          </a:xfrm>
          <a:prstGeom prst="rect">
            <a:avLst/>
          </a:prstGeom>
        </p:spPr>
      </p:pic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BE4D77F-5CF6-43BB-9455-46AF526D4FF1}"/>
              </a:ext>
            </a:extLst>
          </p:cNvPr>
          <p:cNvSpPr/>
          <p:nvPr/>
        </p:nvSpPr>
        <p:spPr>
          <a:xfrm>
            <a:off x="5996978" y="0"/>
            <a:ext cx="89741" cy="5143500"/>
          </a:xfrm>
          <a:prstGeom prst="rect">
            <a:avLst/>
          </a:prstGeom>
          <a:solidFill>
            <a:srgbClr val="344B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500"/>
                            </p:stCondLst>
                            <p:childTnLst>
                              <p:par>
                                <p:cTn id="10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0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4367" y="0"/>
            <a:ext cx="343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БРОНИРОВАНИЯ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8027" y="767207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механики: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8027" y="1187831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3747" y="1233551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0947" y="1233551"/>
            <a:ext cx="16960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расчёт суммы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947" y="1544447"/>
            <a:ext cx="2697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выборе отеля и дат сумма обновляется в реальном времени: ночи × цена в ₼.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8027" y="2147951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3747" y="2193671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947" y="2193671"/>
            <a:ext cx="141911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7 полей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0947" y="2504567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фамилия, email, телефон, отель, заезд, выезд —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отдельно.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8027" y="3108071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3747" y="3153791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0947" y="3108070"/>
            <a:ext cx="1353168" cy="279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Модальное окно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947" y="3363058"/>
            <a:ext cx="2697480" cy="503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успешной отправки появляется подтверждение с именем пользователя и названием отеля.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8027" y="4068191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3747" y="4113911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0947" y="4113911"/>
            <a:ext cx="119051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дат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947" y="4424807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выбрать дату выезда раньше заезда — JavaScript сравнивает Date-объекты.</a:t>
            </a:r>
            <a:endParaRPr lang="en-US" sz="10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2ACB94B-8309-4292-85B8-B6023AFE5A6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04920" y="0"/>
            <a:ext cx="5339080" cy="5143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3CFABC0-9DDD-4CAE-ADEF-BA5868B5530A}"/>
              </a:ext>
            </a:extLst>
          </p:cNvPr>
          <p:cNvPicPr/>
          <p:nvPr/>
        </p:nvPicPr>
        <p:blipFill rotWithShape="1">
          <a:blip r:embed="rId4"/>
          <a:srcRect l="11265" t="8583" r="14183" b="6964"/>
          <a:stretch/>
        </p:blipFill>
        <p:spPr>
          <a:xfrm>
            <a:off x="7486650" y="2863511"/>
            <a:ext cx="1582615" cy="1607016"/>
          </a:xfrm>
          <a:prstGeom prst="roundRect">
            <a:avLst>
              <a:gd name="adj" fmla="val 788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Text 15">
            <a:extLst>
              <a:ext uri="{FF2B5EF4-FFF2-40B4-BE49-F238E27FC236}">
                <a16:creationId xmlns:a16="http://schemas.microsoft.com/office/drawing/2014/main" id="{AB9DFCEC-8D13-4F3B-8B8B-239C6EF79F31}"/>
              </a:ext>
            </a:extLst>
          </p:cNvPr>
          <p:cNvSpPr/>
          <p:nvPr/>
        </p:nvSpPr>
        <p:spPr>
          <a:xfrm>
            <a:off x="7435525" y="4490480"/>
            <a:ext cx="1684866" cy="474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подтверждения бронирования</a:t>
            </a:r>
            <a:endParaRPr lang="en-US" sz="10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C3820E1-7304-47B9-BA3B-BEF89BEBF6B8}"/>
              </a:ext>
            </a:extLst>
          </p:cNvPr>
          <p:cNvSpPr/>
          <p:nvPr/>
        </p:nvSpPr>
        <p:spPr>
          <a:xfrm>
            <a:off x="3736440" y="0"/>
            <a:ext cx="89741" cy="5143500"/>
          </a:xfrm>
          <a:prstGeom prst="rect">
            <a:avLst/>
          </a:prstGeom>
          <a:solidFill>
            <a:srgbClr val="344B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3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ВАЛИДАЦИЯ ФОРМ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75488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896112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896112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400" y="1229360"/>
            <a:ext cx="4069080" cy="3266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2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submitBooking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getElementById(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200" dirty="0" err="1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(!el.value.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 err="1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errEl.textContent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r>
              <a:rPr lang="ru-RU" sz="1200" dirty="0"/>
              <a:t> 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200" dirty="0" err="1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Поле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 err="1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обязательно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 = </a:t>
            </a: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  }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emailRe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/</a:t>
            </a: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^[^@]+@[^@]+\.[^@]+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(!emailRe.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(email.value))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 = </a:t>
            </a:r>
            <a:r>
              <a:rPr lang="en-US" sz="12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  }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(!valid) </a:t>
            </a: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 err="1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showModal</a:t>
            </a: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82296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822960"/>
            <a:ext cx="54864" cy="8686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87782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valid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76672" y="120700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Начинается как true. Если хоть одно поле не прошло проверку, становится false.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82880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0" y="1828800"/>
            <a:ext cx="54864" cy="8686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188366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пустых полей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6672" y="221284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.trim() убирает пробелы — нельзя отправить форму, заполненную пробелами.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83464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57800" y="2834640"/>
            <a:ext cx="54864" cy="8686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88950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через regex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76672" y="321868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Регулярное выражение проверяет наличие @ и точки в правильных позициях.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384048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3840480"/>
            <a:ext cx="54864" cy="8686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389534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выход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422452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valid === false, функция завершается и модальное окно не показывается.</a:t>
            </a:r>
            <a:endParaRPr lang="en-US" sz="1000" dirty="0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CE734A2A-F4A2-4255-83EA-66CF89592B12}"/>
              </a:ext>
            </a:extLst>
          </p:cNvPr>
          <p:cNvSpPr/>
          <p:nvPr/>
        </p:nvSpPr>
        <p:spPr>
          <a:xfrm>
            <a:off x="3243173" y="4179316"/>
            <a:ext cx="3863747" cy="748284"/>
          </a:xfrm>
          <a:custGeom>
            <a:avLst/>
            <a:gdLst>
              <a:gd name="connsiteX0" fmla="*/ 23267 w 4046627"/>
              <a:gd name="connsiteY0" fmla="*/ 12410 h 564228"/>
              <a:gd name="connsiteX1" fmla="*/ 119787 w 4046627"/>
              <a:gd name="connsiteY1" fmla="*/ 444210 h 564228"/>
              <a:gd name="connsiteX2" fmla="*/ 952907 w 4046627"/>
              <a:gd name="connsiteY2" fmla="*/ 545810 h 564228"/>
              <a:gd name="connsiteX3" fmla="*/ 1902867 w 4046627"/>
              <a:gd name="connsiteY3" fmla="*/ 134330 h 564228"/>
              <a:gd name="connsiteX4" fmla="*/ 2568347 w 4046627"/>
              <a:gd name="connsiteY4" fmla="*/ 2250 h 564228"/>
              <a:gd name="connsiteX5" fmla="*/ 3543707 w 4046627"/>
              <a:gd name="connsiteY5" fmla="*/ 220690 h 564228"/>
              <a:gd name="connsiteX6" fmla="*/ 4046627 w 4046627"/>
              <a:gd name="connsiteY6" fmla="*/ 505170 h 56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6627" h="564228">
                <a:moveTo>
                  <a:pt x="23267" y="12410"/>
                </a:moveTo>
                <a:cubicBezTo>
                  <a:pt x="-5943" y="183860"/>
                  <a:pt x="-35153" y="355310"/>
                  <a:pt x="119787" y="444210"/>
                </a:cubicBezTo>
                <a:cubicBezTo>
                  <a:pt x="274727" y="533110"/>
                  <a:pt x="655727" y="597457"/>
                  <a:pt x="952907" y="545810"/>
                </a:cubicBezTo>
                <a:cubicBezTo>
                  <a:pt x="1250087" y="494163"/>
                  <a:pt x="1633627" y="224923"/>
                  <a:pt x="1902867" y="134330"/>
                </a:cubicBezTo>
                <a:cubicBezTo>
                  <a:pt x="2172107" y="43737"/>
                  <a:pt x="2294874" y="-12143"/>
                  <a:pt x="2568347" y="2250"/>
                </a:cubicBezTo>
                <a:cubicBezTo>
                  <a:pt x="2841820" y="16643"/>
                  <a:pt x="3297327" y="136870"/>
                  <a:pt x="3543707" y="220690"/>
                </a:cubicBezTo>
                <a:cubicBezTo>
                  <a:pt x="3790087" y="304510"/>
                  <a:pt x="3918357" y="404840"/>
                  <a:pt x="4046627" y="505170"/>
                </a:cubicBezTo>
              </a:path>
            </a:pathLst>
          </a:custGeom>
          <a:noFill/>
          <a:ln w="28575">
            <a:solidFill>
              <a:srgbClr val="547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56632" y="-17272"/>
            <a:ext cx="3033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КОНТАКТОВ И СТРУКТУРА ПРОЕКТА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7900" y="754380"/>
            <a:ext cx="205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файлов проекта: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7168" y="1207008"/>
            <a:ext cx="4116832" cy="2331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648" y="1307592"/>
            <a:ext cx="100584" cy="100584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67528" y="1307592"/>
            <a:ext cx="100584" cy="100584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0408" y="1307592"/>
            <a:ext cx="100584" cy="100584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581404"/>
            <a:ext cx="3664712" cy="1784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hotel-project/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   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hotels.html  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каталог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отелей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booking.html 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бронирование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отеля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contacts.html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контакты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style.css    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стили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main.js         </a:t>
            </a:r>
            <a:r>
              <a:rPr lang="ru-RU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логика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4856" y="4577588"/>
            <a:ext cx="2085784" cy="350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проекта:</a:t>
            </a:r>
            <a:endParaRPr lang="en-US" sz="2000" i="1" dirty="0"/>
          </a:p>
        </p:txBody>
      </p:sp>
      <p:sp>
        <p:nvSpPr>
          <p:cNvPr id="14" name="Shape 12"/>
          <p:cNvSpPr/>
          <p:nvPr/>
        </p:nvSpPr>
        <p:spPr>
          <a:xfrm>
            <a:off x="335280" y="3982212"/>
            <a:ext cx="3241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280" y="3982212"/>
            <a:ext cx="324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страницы с единым дизайном, шапкой и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подвалом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8728" y="3977640"/>
            <a:ext cx="22433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8728" y="3977640"/>
            <a:ext cx="2243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Динамический каталог из массива + фильтрация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перезагрузки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64688" y="4678527"/>
            <a:ext cx="2174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64688" y="4678527"/>
            <a:ext cx="217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7 полей, расчёт суммы,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модальное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07175" y="4562856"/>
            <a:ext cx="22433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07175" y="4562856"/>
            <a:ext cx="2243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цены в манатах,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ACF48B4-2245-451D-A01A-AA40D602F1B0}"/>
              </a:ext>
            </a:extLst>
          </p:cNvPr>
          <p:cNvPicPr/>
          <p:nvPr/>
        </p:nvPicPr>
        <p:blipFill rotWithShape="1">
          <a:blip r:embed="rId3"/>
          <a:srcRect t="1406"/>
          <a:stretch/>
        </p:blipFill>
        <p:spPr>
          <a:xfrm>
            <a:off x="98" y="0"/>
            <a:ext cx="5027168" cy="39166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" grpId="0" animBg="1"/>
      <p:bldP spid="7" grpId="0" animBg="1"/>
      <p:bldP spid="12" grpId="0" animBg="1"/>
      <p:bldP spid="13" grpId="0" animBg="1"/>
      <p:bldP spid="16" grpId="0" animBg="1"/>
      <p:bldP spid="19" grpId="0" animBg="1"/>
      <p:bldP spid="22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0" y="2633471"/>
            <a:ext cx="7198360" cy="45719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DDF32690-369D-4955-97D1-44C5758C5F68}"/>
              </a:ext>
            </a:extLst>
          </p:cNvPr>
          <p:cNvSpPr/>
          <p:nvPr/>
        </p:nvSpPr>
        <p:spPr>
          <a:xfrm>
            <a:off x="-2775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02752" y="196596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3223" y="484632"/>
            <a:ext cx="128016" cy="128016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6648" y="1508759"/>
            <a:ext cx="6842760" cy="45719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4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8"/>
          <p:cNvSpPr/>
          <p:nvPr/>
        </p:nvSpPr>
        <p:spPr>
          <a:xfrm>
            <a:off x="2677160" y="2803648"/>
            <a:ext cx="3789680" cy="54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Надеюсь, что данная работа произвела на Вас хорошее впечатление!</a:t>
            </a:r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-1014984" y="-2854960"/>
            <a:ext cx="4572000" cy="4572000"/>
          </a:xfrm>
          <a:prstGeom prst="ellipse">
            <a:avLst/>
          </a:prstGeom>
          <a:solidFill>
            <a:srgbClr val="213354">
              <a:alpha val="80000"/>
            </a:srgbClr>
          </a:solidFill>
          <a:ln w="381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80480" y="2450589"/>
            <a:ext cx="3200400" cy="3200400"/>
          </a:xfrm>
          <a:prstGeom prst="ellipse">
            <a:avLst/>
          </a:prstGeom>
          <a:solidFill>
            <a:srgbClr val="213354">
              <a:alpha val="75000"/>
            </a:srgbClr>
          </a:solidFill>
          <a:ln w="38100">
            <a:solidFill>
              <a:srgbClr val="F2C55C"/>
            </a:solidFill>
            <a:prstDash val="solid"/>
          </a:ln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7A48013-B8FE-4A20-BDD1-9AABCE4ECCCB}"/>
              </a:ext>
            </a:extLst>
          </p:cNvPr>
          <p:cNvSpPr/>
          <p:nvPr/>
        </p:nvSpPr>
        <p:spPr>
          <a:xfrm>
            <a:off x="1143000" y="4907280"/>
            <a:ext cx="128016" cy="128016"/>
          </a:xfrm>
          <a:prstGeom prst="ellipse">
            <a:avLst/>
          </a:prstGeom>
          <a:solidFill>
            <a:srgbClr val="F2C55C"/>
          </a:solidFill>
          <a:ln w="12700">
            <a:solidFill>
              <a:srgbClr val="F2C55C"/>
            </a:solidFill>
            <a:prstDash val="solid"/>
          </a:ln>
        </p:spPr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5565E18-49ED-48CB-87AD-C4AE164CA232}"/>
              </a:ext>
            </a:extLst>
          </p:cNvPr>
          <p:cNvSpPr/>
          <p:nvPr/>
        </p:nvSpPr>
        <p:spPr>
          <a:xfrm>
            <a:off x="847480" y="4581653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7B6112A5-E5D5-4D4E-A887-14DC4F498982}"/>
              </a:ext>
            </a:extLst>
          </p:cNvPr>
          <p:cNvSpPr/>
          <p:nvPr/>
        </p:nvSpPr>
        <p:spPr>
          <a:xfrm>
            <a:off x="352219" y="4242815"/>
            <a:ext cx="348957" cy="338838"/>
          </a:xfrm>
          <a:prstGeom prst="ellipse">
            <a:avLst/>
          </a:prstGeom>
          <a:solidFill>
            <a:srgbClr val="DB9D13"/>
          </a:solidFill>
          <a:ln w="12700">
            <a:noFill/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630</Words>
  <Application>Microsoft Office PowerPoint</Application>
  <PresentationFormat>Экран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онлайн-бронирования отелей</dc:title>
  <cp:lastModifiedBy>Саид Мухтиев</cp:lastModifiedBy>
  <dcterms:created xsi:type="dcterms:W3CDTF">2026-05-10T23:58:27Z</dcterms:created>
  <dcterms:modified xsi:type="dcterms:W3CDTF">2026-05-11T17:03:49Z</dcterms:modified>
</cp:coreProperties>
</file>